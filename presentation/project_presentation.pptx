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Libre Franklin" charset="1" panose="00000000000000000000"/>
      <p:regular r:id="rId21"/>
    </p:embeddedFont>
    <p:embeddedFont>
      <p:font typeface="Libre Franklin Medium" charset="1" panose="00000000000000000000"/>
      <p:regular r:id="rId22"/>
    </p:embeddedFont>
    <p:embeddedFont>
      <p:font typeface="Libre Franklin Bold" charset="1" panose="00000000000000000000"/>
      <p:regular r:id="rId23"/>
    </p:embeddedFont>
    <p:embeddedFont>
      <p:font typeface="Libre Franklin Light" charset="1" panose="00000000000000000000"/>
      <p:regular r:id="rId24"/>
    </p:embeddedFont>
    <p:embeddedFont>
      <p:font typeface="Consolas" charset="1" panose="020B06090202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mailto:sumithpittala@gmail.com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jpeg" Type="http://schemas.openxmlformats.org/officeDocument/2006/relationships/image"/><Relationship Id="rId4" Target="https://github.com/sumithpittala/habot-hiring-project" TargetMode="External" Type="http://schemas.openxmlformats.org/officeDocument/2006/relationships/hyperlink"/><Relationship Id="rId5" Target="https://docs.google.com/spreadsheets/d/1HVoi-SH_Szr0OkBRl1BKaLem70jqD5dz8jdEpFAQSOM/edit?usp=sharing" TargetMode="External" Type="http://schemas.openxmlformats.org/officeDocument/2006/relationships/hyperlink"/><Relationship Id="rId6" Target="mailto:sumithpittala@gmail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2E6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1501321"/>
            <a:ext cx="9150925" cy="16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6004" spc="-60">
                <a:solidFill>
                  <a:srgbClr val="171C2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Habot Connect FZCO | Hiring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3724227"/>
            <a:ext cx="9150925" cy="144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3002" b="true">
                <a:solidFill>
                  <a:srgbClr val="171C2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Automated Mistake-Proofing (Poka-Yoke), Infrastructure-as-Code, and Strict Data Schema Validation for GCP/Django/React Architecture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5095" y="9329137"/>
            <a:ext cx="915095" cy="38129"/>
            <a:chOff x="0" y="0"/>
            <a:chExt cx="1220127" cy="508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0089" cy="50800"/>
            </a:xfrm>
            <a:custGeom>
              <a:avLst/>
              <a:gdLst/>
              <a:ahLst/>
              <a:cxnLst/>
              <a:rect r="r" b="b" t="t" l="l"/>
              <a:pathLst>
                <a:path h="50800" w="1220089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94689" y="0"/>
                  </a:lnTo>
                  <a:cubicBezTo>
                    <a:pt x="1208786" y="0"/>
                    <a:pt x="1220089" y="11430"/>
                    <a:pt x="1220089" y="25400"/>
                  </a:cubicBezTo>
                  <a:cubicBezTo>
                    <a:pt x="1220089" y="39497"/>
                    <a:pt x="1208659" y="50800"/>
                    <a:pt x="1194689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1F6A8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81106" y="0"/>
            <a:ext cx="7320734" cy="10358790"/>
            <a:chOff x="0" y="0"/>
            <a:chExt cx="9760979" cy="13811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60966" cy="13811631"/>
            </a:xfrm>
            <a:custGeom>
              <a:avLst/>
              <a:gdLst/>
              <a:ahLst/>
              <a:cxnLst/>
              <a:rect r="r" b="b" t="t" l="l"/>
              <a:pathLst>
                <a:path h="13811631" w="9760966">
                  <a:moveTo>
                    <a:pt x="0" y="0"/>
                  </a:moveTo>
                  <a:lnTo>
                    <a:pt x="9710166" y="0"/>
                  </a:lnTo>
                  <a:cubicBezTo>
                    <a:pt x="9738233" y="0"/>
                    <a:pt x="9760966" y="22733"/>
                    <a:pt x="9760966" y="50800"/>
                  </a:cubicBezTo>
                  <a:lnTo>
                    <a:pt x="9760966" y="13760831"/>
                  </a:lnTo>
                  <a:cubicBezTo>
                    <a:pt x="9760966" y="13788898"/>
                    <a:pt x="9738233" y="13811631"/>
                    <a:pt x="9710166" y="13811631"/>
                  </a:cubicBezTo>
                  <a:lnTo>
                    <a:pt x="0" y="13811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5F7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501066" y="1425121"/>
            <a:ext cx="6786934" cy="40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b="true" sz="2251" spc="22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Full Name:</a:t>
            </a:r>
            <a:r>
              <a:rPr lang="en-US" sz="2251" spc="22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Pittala Sumith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14906" y="1868395"/>
            <a:ext cx="6253134" cy="225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Contact Phone:</a:t>
            </a:r>
            <a:r>
              <a:rPr lang="en-US" sz="225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+91 8790553948</a:t>
            </a:r>
          </a:p>
          <a:p>
            <a:pPr algn="l">
              <a:lnSpc>
                <a:spcPts val="3161"/>
              </a:lnSpc>
            </a:pPr>
            <a:r>
              <a:rPr lang="en-US" sz="225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Email Address:</a:t>
            </a:r>
            <a:r>
              <a:rPr lang="en-US" sz="225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US" b="true" sz="2251" u="sng">
                <a:solidFill>
                  <a:srgbClr val="1F6A85"/>
                </a:solidFill>
                <a:latin typeface="Libre Franklin Bold"/>
                <a:ea typeface="Libre Franklin Bold"/>
                <a:cs typeface="Libre Franklin Bold"/>
                <a:sym typeface="Libre Franklin Bold"/>
                <a:hlinkClick r:id="rId4" tooltip="mailto:sumithpittala@gmail.com"/>
              </a:rPr>
              <a:t>sumithpittala@gmail.com</a:t>
            </a:r>
          </a:p>
          <a:p>
            <a:pPr algn="l">
              <a:lnSpc>
                <a:spcPts val="3161"/>
              </a:lnSpc>
            </a:pPr>
            <a:r>
              <a:rPr lang="en-US" sz="225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Position Applied For:</a:t>
            </a:r>
            <a:r>
              <a:rPr lang="en-US" sz="225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Junior Cloud &amp; DevOps Engineer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2E6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571" r="2" b="-3157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953214"/>
            <a:ext cx="16471659" cy="60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4503" spc="-45">
                <a:solidFill>
                  <a:srgbClr val="171C2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Incident Overview &amp; Executive Summary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5095" y="1967855"/>
            <a:ext cx="16471659" cy="18917"/>
            <a:chOff x="0" y="0"/>
            <a:chExt cx="21962212" cy="25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111" cy="25148"/>
            </a:xfrm>
            <a:custGeom>
              <a:avLst/>
              <a:gdLst/>
              <a:ahLst/>
              <a:cxnLst/>
              <a:rect r="r" b="b" t="t" l="l"/>
              <a:pathLst>
                <a:path h="25148" w="21962111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5095" y="2274380"/>
            <a:ext cx="610057" cy="610076"/>
            <a:chOff x="0" y="0"/>
            <a:chExt cx="813410" cy="813435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813435" cy="813435"/>
            </a:xfrm>
            <a:custGeom>
              <a:avLst/>
              <a:gdLst/>
              <a:ahLst/>
              <a:cxnLst/>
              <a:rect r="r" b="b" t="t" l="l"/>
              <a:pathLst>
                <a:path h="813435" w="813435">
                  <a:moveTo>
                    <a:pt x="0" y="0"/>
                  </a:moveTo>
                  <a:lnTo>
                    <a:pt x="813435" y="0"/>
                  </a:lnTo>
                  <a:lnTo>
                    <a:pt x="813435" y="813435"/>
                  </a:lnTo>
                  <a:lnTo>
                    <a:pt x="0" y="813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1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30181" y="2318214"/>
            <a:ext cx="15556563" cy="132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Staging Incident Analysis: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 recent deployment bypassed security guidelines, introducing unencrypted API secret credentials into source code and causing database schema mismatches that disrupted downstream analytics.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5095" y="4165530"/>
            <a:ext cx="610057" cy="610076"/>
            <a:chOff x="0" y="0"/>
            <a:chExt cx="813410" cy="813435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813435" cy="813435"/>
            </a:xfrm>
            <a:custGeom>
              <a:avLst/>
              <a:gdLst/>
              <a:ahLst/>
              <a:cxnLst/>
              <a:rect r="r" b="b" t="t" l="l"/>
              <a:pathLst>
                <a:path h="813435" w="813435">
                  <a:moveTo>
                    <a:pt x="0" y="0"/>
                  </a:moveTo>
                  <a:lnTo>
                    <a:pt x="813435" y="0"/>
                  </a:lnTo>
                  <a:lnTo>
                    <a:pt x="813435" y="813435"/>
                  </a:lnTo>
                  <a:lnTo>
                    <a:pt x="0" y="813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1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830181" y="4209355"/>
            <a:ext cx="15556563" cy="9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Core Remediation Objective: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Construct an automated, fail-closed operational environment that enforces HabotConnect's "Golden Rules" without relying on human memory.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5095" y="5629656"/>
            <a:ext cx="610057" cy="610076"/>
            <a:chOff x="0" y="0"/>
            <a:chExt cx="813410" cy="813435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813435" cy="813435"/>
            </a:xfrm>
            <a:custGeom>
              <a:avLst/>
              <a:gdLst/>
              <a:ahLst/>
              <a:cxnLst/>
              <a:rect r="r" b="b" t="t" l="l"/>
              <a:pathLst>
                <a:path h="813435" w="813435">
                  <a:moveTo>
                    <a:pt x="0" y="0"/>
                  </a:moveTo>
                  <a:lnTo>
                    <a:pt x="813435" y="0"/>
                  </a:lnTo>
                  <a:lnTo>
                    <a:pt x="813435" y="813435"/>
                  </a:lnTo>
                  <a:lnTo>
                    <a:pt x="0" y="813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1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830181" y="5673481"/>
            <a:ext cx="16471659" cy="4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Terraform IaC: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Secure provisioning of Google Cloud Storage and BigQuery datasets.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5095" y="6666757"/>
            <a:ext cx="610057" cy="610076"/>
            <a:chOff x="0" y="0"/>
            <a:chExt cx="813410" cy="81343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813435" cy="813435"/>
            </a:xfrm>
            <a:custGeom>
              <a:avLst/>
              <a:gdLst/>
              <a:ahLst/>
              <a:cxnLst/>
              <a:rect r="r" b="b" t="t" l="l"/>
              <a:pathLst>
                <a:path h="813435" w="813435">
                  <a:moveTo>
                    <a:pt x="0" y="0"/>
                  </a:moveTo>
                  <a:lnTo>
                    <a:pt x="813435" y="0"/>
                  </a:lnTo>
                  <a:lnTo>
                    <a:pt x="813435" y="813435"/>
                  </a:lnTo>
                  <a:lnTo>
                    <a:pt x="0" y="813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1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830181" y="6710582"/>
            <a:ext cx="16471659" cy="4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Poka-Yoke CI/CD Gate: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Automated linter, formatting, and secret-scanning workflow.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5095" y="7703858"/>
            <a:ext cx="610057" cy="610076"/>
            <a:chOff x="0" y="0"/>
            <a:chExt cx="813410" cy="813435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813435" cy="813435"/>
            </a:xfrm>
            <a:custGeom>
              <a:avLst/>
              <a:gdLst/>
              <a:ahLst/>
              <a:cxnLst/>
              <a:rect r="r" b="b" t="t" l="l"/>
              <a:pathLst>
                <a:path h="813435" w="813435">
                  <a:moveTo>
                    <a:pt x="0" y="0"/>
                  </a:moveTo>
                  <a:lnTo>
                    <a:pt x="813435" y="0"/>
                  </a:lnTo>
                  <a:lnTo>
                    <a:pt x="813435" y="813435"/>
                  </a:lnTo>
                  <a:lnTo>
                    <a:pt x="0" y="813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1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830181" y="7747683"/>
            <a:ext cx="16471659" cy="4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DRF &amp; DCYN Logic Library: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Binary data validation to eliminate subjective human judgment.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5095" y="8740959"/>
            <a:ext cx="610057" cy="610076"/>
            <a:chOff x="0" y="0"/>
            <a:chExt cx="813410" cy="813435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813435" cy="813435"/>
            </a:xfrm>
            <a:custGeom>
              <a:avLst/>
              <a:gdLst/>
              <a:ahLst/>
              <a:cxnLst/>
              <a:rect r="r" b="b" t="t" l="l"/>
              <a:pathLst>
                <a:path h="813435" w="813435">
                  <a:moveTo>
                    <a:pt x="0" y="0"/>
                  </a:moveTo>
                  <a:lnTo>
                    <a:pt x="813435" y="0"/>
                  </a:lnTo>
                  <a:lnTo>
                    <a:pt x="813435" y="813435"/>
                  </a:lnTo>
                  <a:lnTo>
                    <a:pt x="0" y="813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1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830181" y="8784784"/>
            <a:ext cx="15556563" cy="9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Engineering Impact: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100% automated secret leak prevention, zero unencrypted storage, and deterministic data flow execution.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15095" y="3942407"/>
            <a:ext cx="16471659" cy="19069"/>
            <a:chOff x="0" y="0"/>
            <a:chExt cx="21962212" cy="2542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62238" cy="25400"/>
            </a:xfrm>
            <a:custGeom>
              <a:avLst/>
              <a:gdLst/>
              <a:ahLst/>
              <a:cxnLst/>
              <a:rect r="r" b="b" t="t" l="l"/>
              <a:pathLst>
                <a:path h="254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5095" y="5406533"/>
            <a:ext cx="16471659" cy="19069"/>
            <a:chOff x="0" y="0"/>
            <a:chExt cx="21962212" cy="254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62238" cy="25400"/>
            </a:xfrm>
            <a:custGeom>
              <a:avLst/>
              <a:gdLst/>
              <a:ahLst/>
              <a:cxnLst/>
              <a:rect r="r" b="b" t="t" l="l"/>
              <a:pathLst>
                <a:path h="254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5095" y="6443634"/>
            <a:ext cx="16471659" cy="19069"/>
            <a:chOff x="0" y="0"/>
            <a:chExt cx="21962212" cy="254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62238" cy="25400"/>
            </a:xfrm>
            <a:custGeom>
              <a:avLst/>
              <a:gdLst/>
              <a:ahLst/>
              <a:cxnLst/>
              <a:rect r="r" b="b" t="t" l="l"/>
              <a:pathLst>
                <a:path h="254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5095" y="7480735"/>
            <a:ext cx="16471659" cy="19069"/>
            <a:chOff x="0" y="0"/>
            <a:chExt cx="21962212" cy="254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62238" cy="25400"/>
            </a:xfrm>
            <a:custGeom>
              <a:avLst/>
              <a:gdLst/>
              <a:ahLst/>
              <a:cxnLst/>
              <a:rect r="r" b="b" t="t" l="l"/>
              <a:pathLst>
                <a:path h="254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5095" y="8517836"/>
            <a:ext cx="16471659" cy="19069"/>
            <a:chOff x="0" y="0"/>
            <a:chExt cx="21962212" cy="2542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62238" cy="25400"/>
            </a:xfrm>
            <a:custGeom>
              <a:avLst/>
              <a:gdLst/>
              <a:ahLst/>
              <a:cxnLst/>
              <a:rect r="r" b="b" t="t" l="l"/>
              <a:pathLst>
                <a:path h="254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7261043" y="9690630"/>
            <a:ext cx="1040797" cy="293570"/>
            <a:chOff x="0" y="0"/>
            <a:chExt cx="1387729" cy="39142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87730" cy="391426"/>
            </a:xfrm>
            <a:custGeom>
              <a:avLst/>
              <a:gdLst/>
              <a:ahLst/>
              <a:cxnLst/>
              <a:rect r="r" b="b" t="t" l="l"/>
              <a:pathLst>
                <a:path h="391426" w="1387730">
                  <a:moveTo>
                    <a:pt x="0" y="0"/>
                  </a:moveTo>
                  <a:lnTo>
                    <a:pt x="1387730" y="0"/>
                  </a:lnTo>
                  <a:lnTo>
                    <a:pt x="1387730" y="391426"/>
                  </a:lnTo>
                  <a:lnTo>
                    <a:pt x="0" y="391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80" r="0" b="-1908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387729" cy="429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651">
                  <a:solidFill>
                    <a:srgbClr val="3A424D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2E6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571" r="2" b="-3157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953214"/>
            <a:ext cx="16471659" cy="60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4503" spc="-45">
                <a:solidFill>
                  <a:srgbClr val="171C2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High-Level GCP Target Architecture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5095" y="1967855"/>
            <a:ext cx="16471659" cy="18917"/>
            <a:chOff x="0" y="0"/>
            <a:chExt cx="21962212" cy="25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111" cy="25148"/>
            </a:xfrm>
            <a:custGeom>
              <a:avLst/>
              <a:gdLst/>
              <a:ahLst/>
              <a:cxnLst/>
              <a:rect r="r" b="b" t="t" l="l"/>
              <a:pathLst>
                <a:path h="25148" w="21962111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5095" y="2274380"/>
            <a:ext cx="610057" cy="610076"/>
            <a:chOff x="0" y="0"/>
            <a:chExt cx="813410" cy="813435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813435" cy="813435"/>
            </a:xfrm>
            <a:custGeom>
              <a:avLst/>
              <a:gdLst/>
              <a:ahLst/>
              <a:cxnLst/>
              <a:rect r="r" b="b" t="t" l="l"/>
              <a:pathLst>
                <a:path h="813435" w="813435">
                  <a:moveTo>
                    <a:pt x="0" y="0"/>
                  </a:moveTo>
                  <a:lnTo>
                    <a:pt x="813435" y="0"/>
                  </a:lnTo>
                  <a:lnTo>
                    <a:pt x="813435" y="813435"/>
                  </a:lnTo>
                  <a:lnTo>
                    <a:pt x="0" y="813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1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30181" y="2318214"/>
            <a:ext cx="15556563" cy="9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Ingress &amp; Compute Tier: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Google App Engine running backend Django REST Framework services and frontend React applications.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5095" y="3969963"/>
            <a:ext cx="610057" cy="610076"/>
            <a:chOff x="0" y="0"/>
            <a:chExt cx="813410" cy="813435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813435" cy="813435"/>
            </a:xfrm>
            <a:custGeom>
              <a:avLst/>
              <a:gdLst/>
              <a:ahLst/>
              <a:cxnLst/>
              <a:rect r="r" b="b" t="t" l="l"/>
              <a:pathLst>
                <a:path h="813435" w="813435">
                  <a:moveTo>
                    <a:pt x="0" y="0"/>
                  </a:moveTo>
                  <a:lnTo>
                    <a:pt x="813435" y="0"/>
                  </a:lnTo>
                  <a:lnTo>
                    <a:pt x="813435" y="813435"/>
                  </a:lnTo>
                  <a:lnTo>
                    <a:pt x="0" y="813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1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830181" y="4013797"/>
            <a:ext cx="16471659" cy="4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Storage Ingestion Tier: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Google Cloud Storage (DO Raw Landing) bucket for immutable event logging.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5095" y="5238531"/>
            <a:ext cx="610057" cy="610076"/>
            <a:chOff x="0" y="0"/>
            <a:chExt cx="813410" cy="813435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813435" cy="813435"/>
            </a:xfrm>
            <a:custGeom>
              <a:avLst/>
              <a:gdLst/>
              <a:ahLst/>
              <a:cxnLst/>
              <a:rect r="r" b="b" t="t" l="l"/>
              <a:pathLst>
                <a:path h="813435" w="813435">
                  <a:moveTo>
                    <a:pt x="0" y="0"/>
                  </a:moveTo>
                  <a:lnTo>
                    <a:pt x="813435" y="0"/>
                  </a:lnTo>
                  <a:lnTo>
                    <a:pt x="813435" y="813435"/>
                  </a:lnTo>
                  <a:lnTo>
                    <a:pt x="0" y="813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1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830181" y="5282355"/>
            <a:ext cx="15556563" cy="9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Analytics &amp; Warehouse Tier: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Google BigQuery (D1 Staged/Enforced) dataset powering downstream streaming sinks.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5095" y="6934114"/>
            <a:ext cx="610057" cy="610076"/>
            <a:chOff x="0" y="0"/>
            <a:chExt cx="813410" cy="81343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813435" cy="813435"/>
            </a:xfrm>
            <a:custGeom>
              <a:avLst/>
              <a:gdLst/>
              <a:ahLst/>
              <a:cxnLst/>
              <a:rect r="r" b="b" t="t" l="l"/>
              <a:pathLst>
                <a:path h="813435" w="813435">
                  <a:moveTo>
                    <a:pt x="0" y="0"/>
                  </a:moveTo>
                  <a:lnTo>
                    <a:pt x="813435" y="0"/>
                  </a:lnTo>
                  <a:lnTo>
                    <a:pt x="813435" y="813435"/>
                  </a:lnTo>
                  <a:lnTo>
                    <a:pt x="0" y="813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1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830181" y="6977939"/>
            <a:ext cx="15556563" cy="9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DevSecOps Pipeline Gate: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GitHub Actions runner executing Poka-Yoke validation rules prior to merge or deployment.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5095" y="8629840"/>
            <a:ext cx="610057" cy="610076"/>
            <a:chOff x="0" y="0"/>
            <a:chExt cx="813410" cy="813435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813435" cy="813435"/>
            </a:xfrm>
            <a:custGeom>
              <a:avLst/>
              <a:gdLst/>
              <a:ahLst/>
              <a:cxnLst/>
              <a:rect r="r" b="b" t="t" l="l"/>
              <a:pathLst>
                <a:path h="813435" w="813435">
                  <a:moveTo>
                    <a:pt x="0" y="0"/>
                  </a:moveTo>
                  <a:lnTo>
                    <a:pt x="813435" y="0"/>
                  </a:lnTo>
                  <a:lnTo>
                    <a:pt x="813435" y="813435"/>
                  </a:lnTo>
                  <a:lnTo>
                    <a:pt x="0" y="813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1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830181" y="8673675"/>
            <a:ext cx="16471659" cy="4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Security Layer: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Centralized Cloud IAM, Cloud KMS encryption, and Workload Identity Federation.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5095" y="3746849"/>
            <a:ext cx="16471659" cy="19069"/>
            <a:chOff x="0" y="0"/>
            <a:chExt cx="21962212" cy="254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62238" cy="25400"/>
            </a:xfrm>
            <a:custGeom>
              <a:avLst/>
              <a:gdLst/>
              <a:ahLst/>
              <a:cxnLst/>
              <a:rect r="r" b="b" t="t" l="l"/>
              <a:pathLst>
                <a:path h="254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5095" y="5015408"/>
            <a:ext cx="16471659" cy="19069"/>
            <a:chOff x="0" y="0"/>
            <a:chExt cx="21962212" cy="254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62238" cy="25400"/>
            </a:xfrm>
            <a:custGeom>
              <a:avLst/>
              <a:gdLst/>
              <a:ahLst/>
              <a:cxnLst/>
              <a:rect r="r" b="b" t="t" l="l"/>
              <a:pathLst>
                <a:path h="254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5095" y="6710991"/>
            <a:ext cx="16471659" cy="19069"/>
            <a:chOff x="0" y="0"/>
            <a:chExt cx="21962212" cy="2542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62238" cy="25400"/>
            </a:xfrm>
            <a:custGeom>
              <a:avLst/>
              <a:gdLst/>
              <a:ahLst/>
              <a:cxnLst/>
              <a:rect r="r" b="b" t="t" l="l"/>
              <a:pathLst>
                <a:path h="254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5095" y="8406727"/>
            <a:ext cx="16471659" cy="19069"/>
            <a:chOff x="0" y="0"/>
            <a:chExt cx="21962212" cy="254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62238" cy="25400"/>
            </a:xfrm>
            <a:custGeom>
              <a:avLst/>
              <a:gdLst/>
              <a:ahLst/>
              <a:cxnLst/>
              <a:rect r="r" b="b" t="t" l="l"/>
              <a:pathLst>
                <a:path h="254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7252252" y="9690630"/>
            <a:ext cx="1049588" cy="293570"/>
            <a:chOff x="0" y="0"/>
            <a:chExt cx="1399451" cy="39142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99447" cy="391426"/>
            </a:xfrm>
            <a:custGeom>
              <a:avLst/>
              <a:gdLst/>
              <a:ahLst/>
              <a:cxnLst/>
              <a:rect r="r" b="b" t="t" l="l"/>
              <a:pathLst>
                <a:path h="391426" w="1399447">
                  <a:moveTo>
                    <a:pt x="0" y="0"/>
                  </a:moveTo>
                  <a:lnTo>
                    <a:pt x="1399447" y="0"/>
                  </a:lnTo>
                  <a:lnTo>
                    <a:pt x="1399447" y="391426"/>
                  </a:lnTo>
                  <a:lnTo>
                    <a:pt x="0" y="391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64" r="0" b="-1966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399451" cy="429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651">
                  <a:solidFill>
                    <a:srgbClr val="3A424D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2E6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571" r="2" b="-3157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58268" y="995630"/>
            <a:ext cx="15892346" cy="8459172"/>
            <a:chOff x="0" y="0"/>
            <a:chExt cx="21189794" cy="112788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38100"/>
              <a:ext cx="19373520" cy="17468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80"/>
                </a:lnSpc>
              </a:pPr>
              <a:r>
                <a:rPr lang="en-US" sz="4552" spc="-45">
                  <a:solidFill>
                    <a:srgbClr val="171C22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Task 1 – Terraform Infrastructure (GCS Landing Bucket)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0" y="2282006"/>
              <a:ext cx="19373520" cy="25495"/>
              <a:chOff x="0" y="0"/>
              <a:chExt cx="19166344" cy="252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166250" cy="25148"/>
              </a:xfrm>
              <a:custGeom>
                <a:avLst/>
                <a:gdLst/>
                <a:ahLst/>
                <a:cxnLst/>
                <a:rect r="r" b="b" t="t" l="l"/>
                <a:pathLst>
                  <a:path h="25148" w="19166250">
                    <a:moveTo>
                      <a:pt x="0" y="12573"/>
                    </a:moveTo>
                    <a:cubicBezTo>
                      <a:pt x="0" y="5588"/>
                      <a:pt x="8229" y="0"/>
                      <a:pt x="18516" y="0"/>
                    </a:cubicBezTo>
                    <a:lnTo>
                      <a:pt x="19147735" y="0"/>
                    </a:lnTo>
                    <a:cubicBezTo>
                      <a:pt x="19158023" y="0"/>
                      <a:pt x="19166250" y="5588"/>
                      <a:pt x="19166250" y="12573"/>
                    </a:cubicBezTo>
                    <a:cubicBezTo>
                      <a:pt x="19166250" y="19558"/>
                      <a:pt x="19158023" y="25146"/>
                      <a:pt x="19147735" y="25146"/>
                    </a:cubicBezTo>
                    <a:lnTo>
                      <a:pt x="18516" y="25146"/>
                    </a:lnTo>
                    <a:cubicBezTo>
                      <a:pt x="8229" y="25273"/>
                      <a:pt x="0" y="19558"/>
                      <a:pt x="0" y="12573"/>
                    </a:cubicBezTo>
                    <a:close/>
                  </a:path>
                </a:pathLst>
              </a:custGeom>
              <a:solidFill>
                <a:srgbClr val="D3D8DE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2761236"/>
              <a:ext cx="21189794" cy="538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8"/>
                </a:lnSpc>
              </a:pPr>
              <a:r>
                <a:rPr lang="en-US" sz="2427" b="true">
                  <a:solidFill>
                    <a:srgbClr val="3A424D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Bucket Identifier:</a:t>
              </a:r>
              <a:r>
                <a:rPr lang="en-US" sz="2427">
                  <a:solidFill>
                    <a:srgbClr val="3A424D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${var.gcp_project_id}-do-raw-landing.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183273"/>
              <a:ext cx="19373520" cy="538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8"/>
                </a:lnSpc>
              </a:pPr>
              <a:r>
                <a:rPr lang="en-US" sz="2427" b="true">
                  <a:solidFill>
                    <a:srgbClr val="3A424D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Uniform Bucket-Level Access:</a:t>
              </a:r>
              <a:r>
                <a:rPr lang="en-US" sz="2427">
                  <a:solidFill>
                    <a:srgbClr val="3A424D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Enabled with uniform_bucket_level_access = true.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180831"/>
              <a:ext cx="19373520" cy="538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8"/>
                </a:lnSpc>
              </a:pPr>
              <a:r>
                <a:rPr lang="en-US" sz="2427" b="true">
                  <a:solidFill>
                    <a:srgbClr val="3A424D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Public Access Prevention:</a:t>
              </a:r>
              <a:r>
                <a:rPr lang="en-US" sz="2427">
                  <a:solidFill>
                    <a:srgbClr val="3A424D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Explicitly blocked with public_access_prevention = "enforced".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8178375"/>
              <a:ext cx="19373520" cy="1102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8"/>
                </a:lnSpc>
              </a:pPr>
              <a:r>
                <a:rPr lang="en-US" sz="2427" b="true">
                  <a:solidFill>
                    <a:srgbClr val="3A424D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Encryption Standard:</a:t>
              </a:r>
              <a:r>
                <a:rPr lang="en-US" sz="2427">
                  <a:solidFill>
                    <a:srgbClr val="3A424D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Mandatory encryption enforced using Customer-Managed Encryption Keys via Cloud KMS.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0175933"/>
              <a:ext cx="19373520" cy="1102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8"/>
                </a:lnSpc>
              </a:pPr>
              <a:r>
                <a:rPr lang="en-US" sz="2427" b="true">
                  <a:solidFill>
                    <a:srgbClr val="3A424D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Object Lifecycle Rules:</a:t>
              </a:r>
              <a:r>
                <a:rPr lang="en-US" sz="2427">
                  <a:solidFill>
                    <a:srgbClr val="3A424D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Object versioning enabled with transition to Nearline storage after 30 days to optimize storage costs.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3816459"/>
              <a:ext cx="19373520" cy="25700"/>
              <a:chOff x="0" y="0"/>
              <a:chExt cx="19166344" cy="2542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6625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9166250">
                    <a:moveTo>
                      <a:pt x="0" y="0"/>
                    </a:moveTo>
                    <a:lnTo>
                      <a:pt x="19166250" y="0"/>
                    </a:lnTo>
                    <a:lnTo>
                      <a:pt x="1916625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3D8DE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5814017"/>
              <a:ext cx="19373520" cy="25700"/>
              <a:chOff x="0" y="0"/>
              <a:chExt cx="19166344" cy="2542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6625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9166250">
                    <a:moveTo>
                      <a:pt x="0" y="0"/>
                    </a:moveTo>
                    <a:lnTo>
                      <a:pt x="19166250" y="0"/>
                    </a:lnTo>
                    <a:lnTo>
                      <a:pt x="1916625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3D8DE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7811574"/>
              <a:ext cx="19373520" cy="25700"/>
              <a:chOff x="0" y="0"/>
              <a:chExt cx="19166344" cy="2542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6625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9166250">
                    <a:moveTo>
                      <a:pt x="0" y="0"/>
                    </a:moveTo>
                    <a:lnTo>
                      <a:pt x="19166250" y="0"/>
                    </a:lnTo>
                    <a:lnTo>
                      <a:pt x="1916625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3D8DE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9809132"/>
              <a:ext cx="19373520" cy="25700"/>
              <a:chOff x="0" y="0"/>
              <a:chExt cx="19166344" cy="2542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6625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9166250">
                    <a:moveTo>
                      <a:pt x="0" y="0"/>
                    </a:moveTo>
                    <a:lnTo>
                      <a:pt x="19166250" y="0"/>
                    </a:lnTo>
                    <a:lnTo>
                      <a:pt x="1916625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D3D8DE"/>
              </a:solidFill>
            </p:spPr>
          </p:sp>
        </p:grpSp>
      </p:grpSp>
      <p:grpSp>
        <p:nvGrpSpPr>
          <p:cNvPr name="Group 25" id="25"/>
          <p:cNvGrpSpPr/>
          <p:nvPr/>
        </p:nvGrpSpPr>
        <p:grpSpPr>
          <a:xfrm rot="0">
            <a:off x="17250613" y="9690630"/>
            <a:ext cx="1051227" cy="293570"/>
            <a:chOff x="0" y="0"/>
            <a:chExt cx="1401636" cy="3914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01631" cy="391426"/>
            </a:xfrm>
            <a:custGeom>
              <a:avLst/>
              <a:gdLst/>
              <a:ahLst/>
              <a:cxnLst/>
              <a:rect r="r" b="b" t="t" l="l"/>
              <a:pathLst>
                <a:path h="391426" w="1401631">
                  <a:moveTo>
                    <a:pt x="0" y="0"/>
                  </a:moveTo>
                  <a:lnTo>
                    <a:pt x="1401631" y="0"/>
                  </a:lnTo>
                  <a:lnTo>
                    <a:pt x="1401631" y="391426"/>
                  </a:lnTo>
                  <a:lnTo>
                    <a:pt x="0" y="391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72" r="0" b="-1977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401636" cy="429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651">
                  <a:solidFill>
                    <a:srgbClr val="FFFF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2E6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571" r="2" b="-3157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953214"/>
            <a:ext cx="16471659" cy="124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4503" spc="-45">
                <a:solidFill>
                  <a:srgbClr val="171C2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Task 1 – Terraform Infrastructure (BigQuery &amp; Row-Level Security)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5095" y="2608316"/>
            <a:ext cx="16471659" cy="18917"/>
            <a:chOff x="0" y="0"/>
            <a:chExt cx="21962212" cy="25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111" cy="25148"/>
            </a:xfrm>
            <a:custGeom>
              <a:avLst/>
              <a:gdLst/>
              <a:ahLst/>
              <a:cxnLst/>
              <a:rect r="r" b="b" t="t" l="l"/>
              <a:pathLst>
                <a:path h="25148" w="21962111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D3D8D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5095" y="3301841"/>
            <a:ext cx="17386744" cy="4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Dataset Identifier: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d1_staged_enforced.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5095" y="4382881"/>
            <a:ext cx="16471659" cy="9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Schema Enforcement: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Strict BigQuery table schemas with explicit field types (STRING, BOOLEAN, TIMESTAMP) and non-nullable requirements.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5095" y="5890936"/>
            <a:ext cx="17386744" cy="4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Service Account: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OWNER access restricted strictly to administrative deployment runners.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5095" y="6971976"/>
            <a:ext cx="17386744" cy="4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Analytics Group: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READER access granted via roles/bigquery.dataViewer.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5095" y="7795603"/>
            <a:ext cx="16471659" cy="1584322"/>
            <a:chOff x="0" y="0"/>
            <a:chExt cx="21962212" cy="21124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62238" cy="2112391"/>
            </a:xfrm>
            <a:custGeom>
              <a:avLst/>
              <a:gdLst/>
              <a:ahLst/>
              <a:cxnLst/>
              <a:rect r="r" b="b" t="t" l="l"/>
              <a:pathLst>
                <a:path h="2112391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093341"/>
                  </a:lnTo>
                  <a:cubicBezTo>
                    <a:pt x="21962238" y="2103882"/>
                    <a:pt x="21953728" y="2112391"/>
                    <a:pt x="21943188" y="2112391"/>
                  </a:cubicBezTo>
                  <a:lnTo>
                    <a:pt x="19050" y="2112391"/>
                  </a:lnTo>
                  <a:cubicBezTo>
                    <a:pt x="8509" y="2112391"/>
                    <a:pt x="0" y="2103882"/>
                    <a:pt x="0" y="209334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3F5F7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58252" y="8091145"/>
            <a:ext cx="15785335" cy="9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3A424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Row-Level Security:</a:t>
            </a: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BigQuery Row Access Policy (regional_access_filter) dynamically restricts row visibility using SESSION_USER() filtering.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5095" y="4115933"/>
            <a:ext cx="16471659" cy="19069"/>
            <a:chOff x="0" y="0"/>
            <a:chExt cx="21962212" cy="254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62238" cy="25400"/>
            </a:xfrm>
            <a:custGeom>
              <a:avLst/>
              <a:gdLst/>
              <a:ahLst/>
              <a:cxnLst/>
              <a:rect r="r" b="b" t="t" l="l"/>
              <a:pathLst>
                <a:path h="254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5095" y="5623998"/>
            <a:ext cx="16471659" cy="19069"/>
            <a:chOff x="0" y="0"/>
            <a:chExt cx="21962212" cy="25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62238" cy="25400"/>
            </a:xfrm>
            <a:custGeom>
              <a:avLst/>
              <a:gdLst/>
              <a:ahLst/>
              <a:cxnLst/>
              <a:rect r="r" b="b" t="t" l="l"/>
              <a:pathLst>
                <a:path h="254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5095" y="6705038"/>
            <a:ext cx="16471659" cy="19069"/>
            <a:chOff x="0" y="0"/>
            <a:chExt cx="21962212" cy="254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62238" cy="25400"/>
            </a:xfrm>
            <a:custGeom>
              <a:avLst/>
              <a:gdLst/>
              <a:ahLst/>
              <a:cxnLst/>
              <a:rect r="r" b="b" t="t" l="l"/>
              <a:pathLst>
                <a:path h="254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5095" y="7786068"/>
            <a:ext cx="16471659" cy="19069"/>
            <a:chOff x="0" y="0"/>
            <a:chExt cx="21962212" cy="254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62238" cy="25400"/>
            </a:xfrm>
            <a:custGeom>
              <a:avLst/>
              <a:gdLst/>
              <a:ahLst/>
              <a:cxnLst/>
              <a:rect r="r" b="b" t="t" l="l"/>
              <a:pathLst>
                <a:path h="254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249575" y="9690630"/>
            <a:ext cx="1052265" cy="293570"/>
            <a:chOff x="0" y="0"/>
            <a:chExt cx="1403020" cy="3914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03022" cy="391426"/>
            </a:xfrm>
            <a:custGeom>
              <a:avLst/>
              <a:gdLst/>
              <a:ahLst/>
              <a:cxnLst/>
              <a:rect r="r" b="b" t="t" l="l"/>
              <a:pathLst>
                <a:path h="391426" w="1403022">
                  <a:moveTo>
                    <a:pt x="0" y="0"/>
                  </a:moveTo>
                  <a:lnTo>
                    <a:pt x="1403022" y="0"/>
                  </a:lnTo>
                  <a:lnTo>
                    <a:pt x="1403022" y="391426"/>
                  </a:lnTo>
                  <a:lnTo>
                    <a:pt x="0" y="391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1" r="0" b="-1984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403020" cy="429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651">
                  <a:solidFill>
                    <a:srgbClr val="3A424D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2E6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571" r="2" b="-3157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953214"/>
            <a:ext cx="16471659" cy="60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4503" spc="-45">
                <a:solidFill>
                  <a:srgbClr val="171C2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Task 2 – Poka-Yoke Automated Build Gate Design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5095" y="1967855"/>
            <a:ext cx="16471659" cy="18917"/>
            <a:chOff x="0" y="0"/>
            <a:chExt cx="21962212" cy="25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111" cy="25148"/>
            </a:xfrm>
            <a:custGeom>
              <a:avLst/>
              <a:gdLst/>
              <a:ahLst/>
              <a:cxnLst/>
              <a:rect r="r" b="b" t="t" l="l"/>
              <a:pathLst>
                <a:path h="25148" w="21962111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D3D8D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5095" y="3596507"/>
            <a:ext cx="1392003" cy="3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3302">
                <a:solidFill>
                  <a:srgbClr val="5F6873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01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5095" y="4071252"/>
            <a:ext cx="3774758" cy="38129"/>
            <a:chOff x="0" y="0"/>
            <a:chExt cx="5033010" cy="508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33010" cy="50800"/>
            </a:xfrm>
            <a:custGeom>
              <a:avLst/>
              <a:gdLst/>
              <a:ahLst/>
              <a:cxnLst/>
              <a:rect r="r" b="b" t="t" l="l"/>
              <a:pathLst>
                <a:path h="50800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F6A8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95" y="4238225"/>
            <a:ext cx="3774758" cy="438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171C2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Poka-Yoke Philosophy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5095" y="4872161"/>
            <a:ext cx="3774758" cy="218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Designing mistake-proof automated pipelines that convert operational rules into automated blocking gates.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47396" y="3596507"/>
            <a:ext cx="1448295" cy="3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3302">
                <a:solidFill>
                  <a:srgbClr val="5F6873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02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147396" y="4071252"/>
            <a:ext cx="3774758" cy="38129"/>
            <a:chOff x="0" y="0"/>
            <a:chExt cx="5033010" cy="508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33010" cy="50800"/>
            </a:xfrm>
            <a:custGeom>
              <a:avLst/>
              <a:gdLst/>
              <a:ahLst/>
              <a:cxnLst/>
              <a:rect r="r" b="b" t="t" l="l"/>
              <a:pathLst>
                <a:path h="50800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F6A8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147396" y="4238225"/>
            <a:ext cx="3774758" cy="8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171C2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Fail-Closed Execution Policy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47396" y="5301120"/>
            <a:ext cx="3774758" cy="260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Any error across security, linting, or formatting instantly returns a non-zero exit code, immediately aborting and quarantining the build.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79696" y="3596507"/>
            <a:ext cx="1467517" cy="3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3302">
                <a:solidFill>
                  <a:srgbClr val="5F6873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03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79696" y="4071252"/>
            <a:ext cx="3774758" cy="38129"/>
            <a:chOff x="0" y="0"/>
            <a:chExt cx="5033010" cy="508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33010" cy="50800"/>
            </a:xfrm>
            <a:custGeom>
              <a:avLst/>
              <a:gdLst/>
              <a:ahLst/>
              <a:cxnLst/>
              <a:rect r="r" b="b" t="t" l="l"/>
              <a:pathLst>
                <a:path h="50800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F6A85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379696" y="4238225"/>
            <a:ext cx="3774758" cy="438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171C2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Target Branches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79696" y="4872161"/>
            <a:ext cx="3774758" cy="175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Automated triggers on push and pull_request targeting main and staging branches.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11997" y="3596507"/>
            <a:ext cx="1469155" cy="3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3302">
                <a:solidFill>
                  <a:srgbClr val="5F6873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04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611997" y="4071252"/>
            <a:ext cx="3774758" cy="38129"/>
            <a:chOff x="0" y="0"/>
            <a:chExt cx="5033010" cy="5083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33010" cy="50800"/>
            </a:xfrm>
            <a:custGeom>
              <a:avLst/>
              <a:gdLst/>
              <a:ahLst/>
              <a:cxnLst/>
              <a:rect r="r" b="b" t="t" l="l"/>
              <a:pathLst>
                <a:path h="50800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F6A85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611997" y="4238225"/>
            <a:ext cx="3774758" cy="438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171C2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Validation Stack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11997" y="4872161"/>
            <a:ext cx="3774758" cy="218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TruffleHog (Secret Scanning), Black (Python Code Formatting), Flake8 (Syntax Analysis), and Bandit (Security SAST).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7248089" y="9690630"/>
            <a:ext cx="1053760" cy="293570"/>
            <a:chOff x="0" y="0"/>
            <a:chExt cx="1405014" cy="39142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05008" cy="391426"/>
            </a:xfrm>
            <a:custGeom>
              <a:avLst/>
              <a:gdLst/>
              <a:ahLst/>
              <a:cxnLst/>
              <a:rect r="r" b="b" t="t" l="l"/>
              <a:pathLst>
                <a:path h="391426" w="1405008">
                  <a:moveTo>
                    <a:pt x="0" y="0"/>
                  </a:moveTo>
                  <a:lnTo>
                    <a:pt x="1405008" y="0"/>
                  </a:lnTo>
                  <a:lnTo>
                    <a:pt x="1405008" y="391426"/>
                  </a:lnTo>
                  <a:lnTo>
                    <a:pt x="0" y="391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0" r="0" b="-1994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405014" cy="429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651">
                  <a:solidFill>
                    <a:srgbClr val="3A424D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2E6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571" r="2" b="-3157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953214"/>
            <a:ext cx="16471659" cy="60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4503" spc="-45">
                <a:solidFill>
                  <a:srgbClr val="171C2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Task 2 – CI/CD Pipeline Configuration (poka-yoke-gate.yml)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5095" y="1967855"/>
            <a:ext cx="16471659" cy="18917"/>
            <a:chOff x="0" y="0"/>
            <a:chExt cx="21962212" cy="25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111" cy="25148"/>
            </a:xfrm>
            <a:custGeom>
              <a:avLst/>
              <a:gdLst/>
              <a:ahLst/>
              <a:cxnLst/>
              <a:rect r="r" b="b" t="t" l="l"/>
              <a:pathLst>
                <a:path h="25148" w="21962111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D3D8D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5095" y="2346789"/>
            <a:ext cx="17386744" cy="32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876" spc="18">
                <a:solidFill>
                  <a:srgbClr val="5F687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Workflow Architecture: Single-job runner (ubuntu-latest) running sequential build gates.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5095" y="3047352"/>
            <a:ext cx="1392003" cy="3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3302">
                <a:solidFill>
                  <a:srgbClr val="5F6873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01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5095" y="3522088"/>
            <a:ext cx="3889143" cy="38129"/>
            <a:chOff x="0" y="0"/>
            <a:chExt cx="5185524" cy="508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85537" cy="50800"/>
            </a:xfrm>
            <a:custGeom>
              <a:avLst/>
              <a:gdLst/>
              <a:ahLst/>
              <a:cxnLst/>
              <a:rect r="r" b="b" t="t" l="l"/>
              <a:pathLst>
                <a:path h="50800" w="5185537">
                  <a:moveTo>
                    <a:pt x="0" y="0"/>
                  </a:moveTo>
                  <a:lnTo>
                    <a:pt x="5185537" y="0"/>
                  </a:lnTo>
                  <a:lnTo>
                    <a:pt x="518553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F6A8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15095" y="3689061"/>
            <a:ext cx="3889143" cy="8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171C2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Step 1: TruffleHog Secret Scan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5095" y="4751965"/>
            <a:ext cx="3889143" cy="218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trufflesecurity/trufflehog-action@main configured with --only-verified to flag unencrypted API credentials.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61781" y="3047352"/>
            <a:ext cx="1448295" cy="3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3302">
                <a:solidFill>
                  <a:srgbClr val="5F6873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02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261781" y="3522088"/>
            <a:ext cx="3889143" cy="38129"/>
            <a:chOff x="0" y="0"/>
            <a:chExt cx="5185524" cy="508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85537" cy="50800"/>
            </a:xfrm>
            <a:custGeom>
              <a:avLst/>
              <a:gdLst/>
              <a:ahLst/>
              <a:cxnLst/>
              <a:rect r="r" b="b" t="t" l="l"/>
              <a:pathLst>
                <a:path h="50800" w="5185537">
                  <a:moveTo>
                    <a:pt x="0" y="0"/>
                  </a:moveTo>
                  <a:lnTo>
                    <a:pt x="5185537" y="0"/>
                  </a:lnTo>
                  <a:lnTo>
                    <a:pt x="518553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F6A85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261781" y="3689061"/>
            <a:ext cx="3889143" cy="8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171C2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Step 2: Formatting Checks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61781" y="4751965"/>
            <a:ext cx="3889143" cy="175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black --check --diff . forces absolute structural code discipline across all backend Python scripts.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8468" y="3047352"/>
            <a:ext cx="1467517" cy="3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3302">
                <a:solidFill>
                  <a:srgbClr val="5F6873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03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608468" y="3522088"/>
            <a:ext cx="7778286" cy="38129"/>
            <a:chOff x="0" y="0"/>
            <a:chExt cx="10371049" cy="50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371074" cy="50800"/>
            </a:xfrm>
            <a:custGeom>
              <a:avLst/>
              <a:gdLst/>
              <a:ahLst/>
              <a:cxnLst/>
              <a:rect r="r" b="b" t="t" l="l"/>
              <a:pathLst>
                <a:path h="50800" w="10371074">
                  <a:moveTo>
                    <a:pt x="0" y="0"/>
                  </a:moveTo>
                  <a:lnTo>
                    <a:pt x="10371074" y="0"/>
                  </a:lnTo>
                  <a:lnTo>
                    <a:pt x="1037107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F6A85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608468" y="3689061"/>
            <a:ext cx="7778286" cy="438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171C2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Step 3: Linter &amp; Security Scans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08468" y="4322997"/>
            <a:ext cx="7778286" cy="9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flake8 checks structural rules; bandit -r backend/ captures raw security vulnerabilities.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7261043" y="9690630"/>
            <a:ext cx="1040797" cy="293570"/>
            <a:chOff x="0" y="0"/>
            <a:chExt cx="1387729" cy="3914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87730" cy="391426"/>
            </a:xfrm>
            <a:custGeom>
              <a:avLst/>
              <a:gdLst/>
              <a:ahLst/>
              <a:cxnLst/>
              <a:rect r="r" b="b" t="t" l="l"/>
              <a:pathLst>
                <a:path h="391426" w="1387730">
                  <a:moveTo>
                    <a:pt x="0" y="0"/>
                  </a:moveTo>
                  <a:lnTo>
                    <a:pt x="1387730" y="0"/>
                  </a:lnTo>
                  <a:lnTo>
                    <a:pt x="1387730" y="391426"/>
                  </a:lnTo>
                  <a:lnTo>
                    <a:pt x="0" y="391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80" r="0" b="-1908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87729" cy="429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651">
                  <a:solidFill>
                    <a:srgbClr val="3A424D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2E6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571" r="2" b="-3157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953214"/>
            <a:ext cx="16471659" cy="60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4503" spc="-45">
                <a:solidFill>
                  <a:srgbClr val="171C2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Task 2 – Fail-Closed Gate Proof &amp; Incident Demonstration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5095" y="1967855"/>
            <a:ext cx="16471659" cy="18917"/>
            <a:chOff x="0" y="0"/>
            <a:chExt cx="21962212" cy="25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111" cy="25148"/>
            </a:xfrm>
            <a:custGeom>
              <a:avLst/>
              <a:gdLst/>
              <a:ahLst/>
              <a:cxnLst/>
              <a:rect r="r" b="b" t="t" l="l"/>
              <a:pathLst>
                <a:path h="25148" w="21962111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5095" y="2365839"/>
            <a:ext cx="8235829" cy="3647056"/>
            <a:chOff x="0" y="0"/>
            <a:chExt cx="10981106" cy="48627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81055" cy="4862703"/>
            </a:xfrm>
            <a:custGeom>
              <a:avLst/>
              <a:gdLst/>
              <a:ahLst/>
              <a:cxnLst/>
              <a:rect r="r" b="b" t="t" l="l"/>
              <a:pathLst>
                <a:path h="4862703" w="10981055">
                  <a:moveTo>
                    <a:pt x="19050" y="0"/>
                  </a:moveTo>
                  <a:lnTo>
                    <a:pt x="10981055" y="0"/>
                  </a:lnTo>
                  <a:lnTo>
                    <a:pt x="10981055" y="4862703"/>
                  </a:lnTo>
                  <a:lnTo>
                    <a:pt x="0" y="4862703"/>
                  </a:ln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F3F5F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58252" y="2689955"/>
            <a:ext cx="8464601" cy="32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876" spc="18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TEST CASE SCENARIO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52" y="3304794"/>
            <a:ext cx="7549505" cy="1067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1"/>
              </a:lnSpc>
            </a:pPr>
            <a:r>
              <a:rPr lang="en-US" sz="3302" b="true">
                <a:solidFill>
                  <a:srgbClr val="3A424D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Committing raw, hardcoded API secret keys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8252" y="4567866"/>
            <a:ext cx="7549505" cy="110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API_KEY = "AIzaSy..."</a:t>
            </a:r>
          </a:p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 a staging pull request.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55953" y="2689955"/>
            <a:ext cx="8845887" cy="32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876" spc="18">
                <a:solidFill>
                  <a:srgbClr val="5F687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AUTOMATED PIPELINE RESPONSE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55953" y="3304794"/>
            <a:ext cx="7930801" cy="54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1"/>
              </a:lnSpc>
            </a:pPr>
            <a:r>
              <a:rPr lang="en-US" sz="3302" b="true">
                <a:solidFill>
                  <a:srgbClr val="171C2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TruffleHog detects high-entropy string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55953" y="4043582"/>
            <a:ext cx="8845887" cy="4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and exits with status code 1.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5095" y="6298873"/>
            <a:ext cx="8845887" cy="32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876" spc="18">
                <a:solidFill>
                  <a:srgbClr val="5F687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BUILD PIPELINE RESPONSE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5095" y="6913721"/>
            <a:ext cx="7930801" cy="54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1"/>
              </a:lnSpc>
            </a:pPr>
            <a:r>
              <a:rPr lang="en-US" sz="3302" b="true">
                <a:solidFill>
                  <a:srgbClr val="171C2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Pipeline immediately halts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5095" y="7652509"/>
            <a:ext cx="8845887" cy="4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GitHub blocks merge capability into staging or main.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150925" y="6012885"/>
            <a:ext cx="8235829" cy="3446869"/>
            <a:chOff x="0" y="0"/>
            <a:chExt cx="10981106" cy="45958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81055" cy="4595876"/>
            </a:xfrm>
            <a:custGeom>
              <a:avLst/>
              <a:gdLst/>
              <a:ahLst/>
              <a:cxnLst/>
              <a:rect r="r" b="b" t="t" l="l"/>
              <a:pathLst>
                <a:path h="4595876" w="10981055">
                  <a:moveTo>
                    <a:pt x="0" y="0"/>
                  </a:moveTo>
                  <a:lnTo>
                    <a:pt x="10981055" y="0"/>
                  </a:lnTo>
                  <a:lnTo>
                    <a:pt x="10981055" y="4576826"/>
                  </a:lnTo>
                  <a:cubicBezTo>
                    <a:pt x="10981055" y="4587367"/>
                    <a:pt x="10972547" y="4595876"/>
                    <a:pt x="10962005" y="4595876"/>
                  </a:cubicBezTo>
                  <a:lnTo>
                    <a:pt x="0" y="45958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BF1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494082" y="6337011"/>
            <a:ext cx="8464601" cy="32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876" spc="18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VERIFICATION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94082" y="6951850"/>
            <a:ext cx="7549505" cy="1067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1"/>
              </a:lnSpc>
            </a:pPr>
            <a:r>
              <a:rPr lang="en-US" sz="3302" b="tru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Confirms zero dependency on human code reviewers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94082" y="8214922"/>
            <a:ext cx="7549505" cy="9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 catch credentials or formatting errors before release.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1390" y="2365839"/>
            <a:ext cx="19069" cy="3647056"/>
            <a:chOff x="0" y="0"/>
            <a:chExt cx="25425" cy="486274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400" cy="4862703"/>
            </a:xfrm>
            <a:custGeom>
              <a:avLst/>
              <a:gdLst/>
              <a:ahLst/>
              <a:cxnLst/>
              <a:rect r="r" b="b" t="t" l="l"/>
              <a:pathLst>
                <a:path h="4862703" w="25400">
                  <a:moveTo>
                    <a:pt x="0" y="0"/>
                  </a:moveTo>
                  <a:lnTo>
                    <a:pt x="25400" y="0"/>
                  </a:lnTo>
                  <a:lnTo>
                    <a:pt x="25400" y="4862703"/>
                  </a:lnTo>
                  <a:lnTo>
                    <a:pt x="0" y="4862703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5095" y="6003360"/>
            <a:ext cx="8235829" cy="19069"/>
            <a:chOff x="0" y="0"/>
            <a:chExt cx="10981106" cy="2542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81055" cy="25400"/>
            </a:xfrm>
            <a:custGeom>
              <a:avLst/>
              <a:gdLst/>
              <a:ahLst/>
              <a:cxnLst/>
              <a:rect r="r" b="b" t="t" l="l"/>
              <a:pathLst>
                <a:path h="25400" w="10981055">
                  <a:moveTo>
                    <a:pt x="0" y="0"/>
                  </a:moveTo>
                  <a:lnTo>
                    <a:pt x="10981055" y="0"/>
                  </a:lnTo>
                  <a:lnTo>
                    <a:pt x="1098105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1390" y="6012885"/>
            <a:ext cx="19069" cy="3446869"/>
            <a:chOff x="0" y="0"/>
            <a:chExt cx="25425" cy="45958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400" cy="4595876"/>
            </a:xfrm>
            <a:custGeom>
              <a:avLst/>
              <a:gdLst/>
              <a:ahLst/>
              <a:cxnLst/>
              <a:rect r="r" b="b" t="t" l="l"/>
              <a:pathLst>
                <a:path h="4595876" w="25400">
                  <a:moveTo>
                    <a:pt x="0" y="0"/>
                  </a:moveTo>
                  <a:lnTo>
                    <a:pt x="25400" y="0"/>
                  </a:lnTo>
                  <a:lnTo>
                    <a:pt x="25400" y="4595876"/>
                  </a:lnTo>
                  <a:lnTo>
                    <a:pt x="0" y="4595876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50925" y="6003360"/>
            <a:ext cx="8235829" cy="19069"/>
            <a:chOff x="0" y="0"/>
            <a:chExt cx="10981106" cy="254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81055" cy="25400"/>
            </a:xfrm>
            <a:custGeom>
              <a:avLst/>
              <a:gdLst/>
              <a:ahLst/>
              <a:cxnLst/>
              <a:rect r="r" b="b" t="t" l="l"/>
              <a:pathLst>
                <a:path h="25400" w="10981055">
                  <a:moveTo>
                    <a:pt x="0" y="0"/>
                  </a:moveTo>
                  <a:lnTo>
                    <a:pt x="10981055" y="0"/>
                  </a:lnTo>
                  <a:lnTo>
                    <a:pt x="1098105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3D8D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246594" y="9690630"/>
            <a:ext cx="1055246" cy="293570"/>
            <a:chOff x="0" y="0"/>
            <a:chExt cx="1406995" cy="3914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06993" cy="391426"/>
            </a:xfrm>
            <a:custGeom>
              <a:avLst/>
              <a:gdLst/>
              <a:ahLst/>
              <a:cxnLst/>
              <a:rect r="r" b="b" t="t" l="l"/>
              <a:pathLst>
                <a:path h="391426" w="1406993">
                  <a:moveTo>
                    <a:pt x="0" y="0"/>
                  </a:moveTo>
                  <a:lnTo>
                    <a:pt x="1406993" y="0"/>
                  </a:lnTo>
                  <a:lnTo>
                    <a:pt x="1406993" y="391426"/>
                  </a:lnTo>
                  <a:lnTo>
                    <a:pt x="0" y="391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39" r="0" b="-2003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406995" cy="429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651">
                  <a:solidFill>
                    <a:srgbClr val="3A424D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2E6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571" r="2" b="-3157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953214"/>
            <a:ext cx="16471659" cy="60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4503" spc="-45">
                <a:solidFill>
                  <a:srgbClr val="171C2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Task 3 – Schema Mapping &amp; Binary DCYN Logic Library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5095" y="1967855"/>
            <a:ext cx="16471659" cy="18917"/>
            <a:chOff x="0" y="0"/>
            <a:chExt cx="21962212" cy="25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111" cy="25148"/>
            </a:xfrm>
            <a:custGeom>
              <a:avLst/>
              <a:gdLst/>
              <a:ahLst/>
              <a:cxnLst/>
              <a:rect r="r" b="b" t="t" l="l"/>
              <a:pathLst>
                <a:path h="25148" w="21962111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D3D8D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5095" y="2346789"/>
            <a:ext cx="17386744" cy="32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876" spc="18">
                <a:solidFill>
                  <a:srgbClr val="5F687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Context: Student Onboarding Form payload processing for parent/LSA matching.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5095" y="3047352"/>
            <a:ext cx="1392003" cy="3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3302">
                <a:solidFill>
                  <a:srgbClr val="5F6873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01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5095" y="3522088"/>
            <a:ext cx="3774758" cy="38129"/>
            <a:chOff x="0" y="0"/>
            <a:chExt cx="5033010" cy="508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33010" cy="50800"/>
            </a:xfrm>
            <a:custGeom>
              <a:avLst/>
              <a:gdLst/>
              <a:ahLst/>
              <a:cxnLst/>
              <a:rect r="r" b="b" t="t" l="l"/>
              <a:pathLst>
                <a:path h="50800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F6A8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15095" y="3689061"/>
            <a:ext cx="3774758" cy="8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171C2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Data/Code Yes-No (DCYN) Library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5095" y="4751965"/>
            <a:ext cx="3774758" cy="175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Converts multi-variable onboarding data into strict binary evaluations (True/False or 1/0).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7396" y="3047352"/>
            <a:ext cx="1448295" cy="3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3302">
                <a:solidFill>
                  <a:srgbClr val="5F6873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02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147396" y="3522088"/>
            <a:ext cx="3774758" cy="38129"/>
            <a:chOff x="0" y="0"/>
            <a:chExt cx="5033010" cy="508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33010" cy="50800"/>
            </a:xfrm>
            <a:custGeom>
              <a:avLst/>
              <a:gdLst/>
              <a:ahLst/>
              <a:cxnLst/>
              <a:rect r="r" b="b" t="t" l="l"/>
              <a:pathLst>
                <a:path h="50800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F6A85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147396" y="3689061"/>
            <a:ext cx="3774758" cy="438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171C2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Student 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47396" y="4322997"/>
            <a:ext cx="4689843" cy="4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3–18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79696" y="3047352"/>
            <a:ext cx="1467517" cy="3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3302">
                <a:solidFill>
                  <a:srgbClr val="5F6873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03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79696" y="3522088"/>
            <a:ext cx="3774758" cy="38129"/>
            <a:chOff x="0" y="0"/>
            <a:chExt cx="5033010" cy="50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33010" cy="50800"/>
            </a:xfrm>
            <a:custGeom>
              <a:avLst/>
              <a:gdLst/>
              <a:ahLst/>
              <a:cxnLst/>
              <a:rect r="r" b="b" t="t" l="l"/>
              <a:pathLst>
                <a:path h="50800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F6A85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379696" y="3689061"/>
            <a:ext cx="3774758" cy="8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171C2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Completed assessment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79696" y="4751965"/>
            <a:ext cx="4689843" cy="4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True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11997" y="3047352"/>
            <a:ext cx="1469155" cy="3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3302">
                <a:solidFill>
                  <a:srgbClr val="5F6873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04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611997" y="3522088"/>
            <a:ext cx="3774758" cy="38129"/>
            <a:chOff x="0" y="0"/>
            <a:chExt cx="5033010" cy="508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33010" cy="50800"/>
            </a:xfrm>
            <a:custGeom>
              <a:avLst/>
              <a:gdLst/>
              <a:ahLst/>
              <a:cxnLst/>
              <a:rect r="r" b="b" t="t" l="l"/>
              <a:pathLst>
                <a:path h="50800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F6A85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611997" y="3689061"/>
            <a:ext cx="3774758" cy="8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171C2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LSA support requirement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11997" y="4751965"/>
            <a:ext cx="4689843" cy="4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A42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True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15095" y="7763285"/>
            <a:ext cx="16471659" cy="1616640"/>
            <a:chOff x="0" y="0"/>
            <a:chExt cx="21962212" cy="2155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62238" cy="2155571"/>
            </a:xfrm>
            <a:custGeom>
              <a:avLst/>
              <a:gdLst/>
              <a:ahLst/>
              <a:cxnLst/>
              <a:rect r="r" b="b" t="t" l="l"/>
              <a:pathLst>
                <a:path h="2155571" w="21962238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21939377" y="0"/>
                  </a:lnTo>
                  <a:cubicBezTo>
                    <a:pt x="21951950" y="0"/>
                    <a:pt x="21962238" y="10287"/>
                    <a:pt x="21962238" y="22860"/>
                  </a:cubicBezTo>
                  <a:lnTo>
                    <a:pt x="21962238" y="2132711"/>
                  </a:lnTo>
                  <a:cubicBezTo>
                    <a:pt x="21962238" y="2145284"/>
                    <a:pt x="21951950" y="2155571"/>
                    <a:pt x="21939377" y="2155571"/>
                  </a:cubicBezTo>
                  <a:lnTo>
                    <a:pt x="22860" y="2155571"/>
                  </a:lnTo>
                  <a:cubicBezTo>
                    <a:pt x="10287" y="2155571"/>
                    <a:pt x="0" y="2145284"/>
                    <a:pt x="0" y="213271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20124" y="8096955"/>
            <a:ext cx="15861592" cy="9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Elimination of Human Judgment:</a:t>
            </a:r>
            <a:r>
              <a:rPr lang="en-US" sz="240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Deterministic binary evaluations replace open-ended string logic or manual approvals.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7248680" y="9690630"/>
            <a:ext cx="1053160" cy="293570"/>
            <a:chOff x="0" y="0"/>
            <a:chExt cx="1404214" cy="3914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04213" cy="391426"/>
            </a:xfrm>
            <a:custGeom>
              <a:avLst/>
              <a:gdLst/>
              <a:ahLst/>
              <a:cxnLst/>
              <a:rect r="r" b="b" t="t" l="l"/>
              <a:pathLst>
                <a:path h="391426" w="1404213">
                  <a:moveTo>
                    <a:pt x="0" y="0"/>
                  </a:moveTo>
                  <a:lnTo>
                    <a:pt x="1404213" y="0"/>
                  </a:lnTo>
                  <a:lnTo>
                    <a:pt x="1404213" y="391426"/>
                  </a:lnTo>
                  <a:lnTo>
                    <a:pt x="0" y="391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01" r="0" b="-1990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404214" cy="429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651">
                  <a:solidFill>
                    <a:srgbClr val="3A424D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2E6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571" r="2" b="-3157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953214"/>
            <a:ext cx="16471659" cy="60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4503" spc="-45">
                <a:solidFill>
                  <a:srgbClr val="171C2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Task 3 – Django REST Framework Serializer Enforcement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5095" y="1967855"/>
            <a:ext cx="16471659" cy="18917"/>
            <a:chOff x="0" y="0"/>
            <a:chExt cx="21962212" cy="25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111" cy="25148"/>
            </a:xfrm>
            <a:custGeom>
              <a:avLst/>
              <a:gdLst/>
              <a:ahLst/>
              <a:cxnLst/>
              <a:rect r="r" b="b" t="t" l="l"/>
              <a:pathLst>
                <a:path h="25148" w="21962111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D3D8DE"/>
            </a:solidFill>
          </p:spPr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915092" y="2365835"/>
          <a:ext cx="17372908" cy="7187833"/>
        </p:xfrm>
        <a:graphic>
          <a:graphicData uri="http://schemas.openxmlformats.org/drawingml/2006/table">
            <a:tbl>
              <a:tblPr/>
              <a:tblGrid>
                <a:gridCol w="5334136"/>
                <a:gridCol w="5334136"/>
                <a:gridCol w="5334136"/>
                <a:gridCol w="1370499"/>
              </a:tblGrid>
              <a:tr h="820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171C22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Field / Layer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171C22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Constraint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171C22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Enforcement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31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 b="true">
                          <a:solidFill>
                            <a:srgbClr val="3A424D"/>
                          </a:solidFill>
                          <a:latin typeface="Libre Franklin Bold"/>
                          <a:ea typeface="Libre Franklin Bold"/>
                          <a:cs typeface="Libre Franklin Bold"/>
                          <a:sym typeface="Libre Franklin Bold"/>
                        </a:rPr>
                        <a:t>Serializer Class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3A424D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StudentOnboardingSerializer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3A424D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inheriting from serializers.Serializer.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75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 b="true">
                          <a:solidFill>
                            <a:srgbClr val="3A424D"/>
                          </a:solidFill>
                          <a:latin typeface="Libre Franklin Bold"/>
                          <a:ea typeface="Libre Franklin Bold"/>
                          <a:cs typeface="Libre Franklin Bold"/>
                          <a:sym typeface="Libre Franklin Bold"/>
                        </a:rPr>
                        <a:t>student_id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3A424D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CharField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3A424D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exact 36-character length limit (UUID standard).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0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 b="true">
                          <a:solidFill>
                            <a:srgbClr val="3A424D"/>
                          </a:solidFill>
                          <a:latin typeface="Libre Franklin Bold"/>
                          <a:ea typeface="Libre Franklin Bold"/>
                          <a:cs typeface="Libre Franklin Bold"/>
                          <a:sym typeface="Libre Franklin Bold"/>
                        </a:rPr>
                        <a:t>student_age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3A424D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IntegerField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3A424D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bounded strictly between 3 and 18.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75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 b="true">
                          <a:solidFill>
                            <a:srgbClr val="3A424D"/>
                          </a:solidFill>
                          <a:latin typeface="Libre Franklin Bold"/>
                          <a:ea typeface="Libre Franklin Bold"/>
                          <a:cs typeface="Libre Franklin Bold"/>
                          <a:sym typeface="Libre Franklin Bold"/>
                        </a:rPr>
                        <a:t>guardian_email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3A424D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EmailField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3A424D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bounded to standard 254-character maximum.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83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 b="true">
                          <a:solidFill>
                            <a:srgbClr val="3A424D"/>
                          </a:solidFill>
                          <a:latin typeface="Libre Franklin Bold"/>
                          <a:ea typeface="Libre Franklin Bold"/>
                          <a:cs typeface="Libre Franklin Bold"/>
                          <a:sym typeface="Libre Franklin Bold"/>
                        </a:rPr>
                        <a:t>Cross-Field Validation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3A424D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Overridden validate() method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82"/>
                        </a:lnSpc>
                        <a:defRPr/>
                      </a:pPr>
                      <a:r>
                        <a:rPr lang="en-US" sz="2401">
                          <a:solidFill>
                            <a:srgbClr val="3A424D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runs input payload through the DCYN binary logic engine, raising serializers.ValidationError on mismatch.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3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17144867" y="9690630"/>
            <a:ext cx="1156973" cy="293570"/>
            <a:chOff x="0" y="0"/>
            <a:chExt cx="1542631" cy="3914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42629" cy="391426"/>
            </a:xfrm>
            <a:custGeom>
              <a:avLst/>
              <a:gdLst/>
              <a:ahLst/>
              <a:cxnLst/>
              <a:rect r="r" b="b" t="t" l="l"/>
              <a:pathLst>
                <a:path h="391426" w="1542629">
                  <a:moveTo>
                    <a:pt x="0" y="0"/>
                  </a:moveTo>
                  <a:lnTo>
                    <a:pt x="1542629" y="0"/>
                  </a:lnTo>
                  <a:lnTo>
                    <a:pt x="1542629" y="391426"/>
                  </a:lnTo>
                  <a:lnTo>
                    <a:pt x="0" y="391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791" r="0" b="-2679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42631" cy="429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651">
                  <a:solidFill>
                    <a:srgbClr val="3A424D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571" r="2" b="-3157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972264"/>
            <a:ext cx="8454529" cy="59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4"/>
              </a:lnSpc>
            </a:pPr>
            <a:r>
              <a:rPr lang="en-US" b="true" sz="4303" spc="-129">
                <a:solidFill>
                  <a:srgbClr val="171717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End-to-End Operational Data 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1954111"/>
            <a:ext cx="353715" cy="32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2502" spc="-50">
                <a:solidFill>
                  <a:srgbClr val="2B0A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5095" y="2377450"/>
            <a:ext cx="3850862" cy="28594"/>
            <a:chOff x="0" y="0"/>
            <a:chExt cx="5134483" cy="381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34483" cy="38100"/>
            </a:xfrm>
            <a:custGeom>
              <a:avLst/>
              <a:gdLst/>
              <a:ahLst/>
              <a:cxnLst/>
              <a:rect r="r" b="b" t="t" l="l"/>
              <a:pathLst>
                <a:path h="38100" w="5134483">
                  <a:moveTo>
                    <a:pt x="0" y="0"/>
                  </a:moveTo>
                  <a:lnTo>
                    <a:pt x="5134483" y="0"/>
                  </a:lnTo>
                  <a:lnTo>
                    <a:pt x="513448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B0A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15095" y="2649988"/>
            <a:ext cx="3851015" cy="787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902" spc="-87">
                <a:solidFill>
                  <a:srgbClr val="171717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Phase 1 (Payload Submission):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5095" y="3692642"/>
            <a:ext cx="3851015" cy="105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201" spc="-49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React frontend transmits JSON form data to Django REST Framework endpoint.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99910" y="1954111"/>
            <a:ext cx="396280" cy="32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2502" spc="-50">
                <a:solidFill>
                  <a:srgbClr val="2B0A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299910" y="2377450"/>
            <a:ext cx="3584115" cy="28594"/>
            <a:chOff x="0" y="0"/>
            <a:chExt cx="4778820" cy="381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78756" cy="38100"/>
            </a:xfrm>
            <a:custGeom>
              <a:avLst/>
              <a:gdLst/>
              <a:ahLst/>
              <a:cxnLst/>
              <a:rect r="r" b="b" t="t" l="l"/>
              <a:pathLst>
                <a:path h="38100" w="4778756">
                  <a:moveTo>
                    <a:pt x="0" y="0"/>
                  </a:moveTo>
                  <a:lnTo>
                    <a:pt x="4778756" y="0"/>
                  </a:lnTo>
                  <a:lnTo>
                    <a:pt x="477875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B0A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299910" y="2649988"/>
            <a:ext cx="3584115" cy="787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902" spc="-87">
                <a:solidFill>
                  <a:srgbClr val="171717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Phase 2 (Validation Gate):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99910" y="3692642"/>
            <a:ext cx="3584115" cy="105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201" spc="-49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DRF Serializer enforces field limits and executes DCYN binary logic checks.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17825" y="1954111"/>
            <a:ext cx="409674" cy="32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2502" spc="-50">
                <a:solidFill>
                  <a:srgbClr val="2B0A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417825" y="2377450"/>
            <a:ext cx="3584115" cy="28594"/>
            <a:chOff x="0" y="0"/>
            <a:chExt cx="4778820" cy="381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78756" cy="38100"/>
            </a:xfrm>
            <a:custGeom>
              <a:avLst/>
              <a:gdLst/>
              <a:ahLst/>
              <a:cxnLst/>
              <a:rect r="r" b="b" t="t" l="l"/>
              <a:pathLst>
                <a:path h="38100" w="4778756">
                  <a:moveTo>
                    <a:pt x="0" y="0"/>
                  </a:moveTo>
                  <a:lnTo>
                    <a:pt x="4778756" y="0"/>
                  </a:lnTo>
                  <a:lnTo>
                    <a:pt x="477875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B0A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417825" y="2649988"/>
            <a:ext cx="3584115" cy="787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902" spc="-87">
                <a:solidFill>
                  <a:srgbClr val="171717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Phase 3 (Raw Landing):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17825" y="3692642"/>
            <a:ext cx="3584115" cy="140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201" spc="-49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Validated payload written to GCS DO Raw Landing bucket with uniform encryption.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35739" y="1954111"/>
            <a:ext cx="412155" cy="32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2502" spc="-50">
                <a:solidFill>
                  <a:srgbClr val="2B0A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04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535739" y="2377450"/>
            <a:ext cx="3850862" cy="28594"/>
            <a:chOff x="0" y="0"/>
            <a:chExt cx="5134483" cy="381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34483" cy="38100"/>
            </a:xfrm>
            <a:custGeom>
              <a:avLst/>
              <a:gdLst/>
              <a:ahLst/>
              <a:cxnLst/>
              <a:rect r="r" b="b" t="t" l="l"/>
              <a:pathLst>
                <a:path h="38100" w="5134483">
                  <a:moveTo>
                    <a:pt x="0" y="0"/>
                  </a:moveTo>
                  <a:lnTo>
                    <a:pt x="5134483" y="0"/>
                  </a:lnTo>
                  <a:lnTo>
                    <a:pt x="513448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B0A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535739" y="2649988"/>
            <a:ext cx="3851015" cy="787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902" spc="-87">
                <a:solidFill>
                  <a:srgbClr val="171717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Phase 4 (Warehouse Streaming):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35739" y="3692642"/>
            <a:ext cx="3851015" cy="105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201" spc="-49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Event streams into BigQuery D1 Staged/Enforced table with Row-Level Security applied.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023475" y="1896961"/>
            <a:ext cx="19069" cy="7482973"/>
            <a:chOff x="0" y="0"/>
            <a:chExt cx="25425" cy="997729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400" cy="9977247"/>
            </a:xfrm>
            <a:custGeom>
              <a:avLst/>
              <a:gdLst/>
              <a:ahLst/>
              <a:cxnLst/>
              <a:rect r="r" b="b" t="t" l="l"/>
              <a:pathLst>
                <a:path h="9977247" w="25400">
                  <a:moveTo>
                    <a:pt x="0" y="0"/>
                  </a:moveTo>
                  <a:lnTo>
                    <a:pt x="25400" y="0"/>
                  </a:lnTo>
                  <a:lnTo>
                    <a:pt x="25400" y="9977247"/>
                  </a:lnTo>
                  <a:lnTo>
                    <a:pt x="0" y="9977247"/>
                  </a:lnTo>
                  <a:close/>
                </a:path>
              </a:pathLst>
            </a:custGeom>
            <a:solidFill>
              <a:srgbClr val="2D2D2D">
                <a:alpha val="3137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1390" y="1896961"/>
            <a:ext cx="19069" cy="7482973"/>
            <a:chOff x="0" y="0"/>
            <a:chExt cx="25425" cy="99772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400" cy="9977247"/>
            </a:xfrm>
            <a:custGeom>
              <a:avLst/>
              <a:gdLst/>
              <a:ahLst/>
              <a:cxnLst/>
              <a:rect r="r" b="b" t="t" l="l"/>
              <a:pathLst>
                <a:path h="9977247" w="25400">
                  <a:moveTo>
                    <a:pt x="0" y="0"/>
                  </a:moveTo>
                  <a:lnTo>
                    <a:pt x="25400" y="0"/>
                  </a:lnTo>
                  <a:lnTo>
                    <a:pt x="25400" y="9977247"/>
                  </a:lnTo>
                  <a:lnTo>
                    <a:pt x="0" y="9977247"/>
                  </a:lnTo>
                  <a:close/>
                </a:path>
              </a:pathLst>
            </a:custGeom>
            <a:solidFill>
              <a:srgbClr val="2D2D2D">
                <a:alpha val="3137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259305" y="1896961"/>
            <a:ext cx="19069" cy="7482973"/>
            <a:chOff x="0" y="0"/>
            <a:chExt cx="25425" cy="997729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400" cy="9977247"/>
            </a:xfrm>
            <a:custGeom>
              <a:avLst/>
              <a:gdLst/>
              <a:ahLst/>
              <a:cxnLst/>
              <a:rect r="r" b="b" t="t" l="l"/>
              <a:pathLst>
                <a:path h="9977247" w="25400">
                  <a:moveTo>
                    <a:pt x="0" y="0"/>
                  </a:moveTo>
                  <a:lnTo>
                    <a:pt x="25400" y="0"/>
                  </a:lnTo>
                  <a:lnTo>
                    <a:pt x="25400" y="9977247"/>
                  </a:lnTo>
                  <a:lnTo>
                    <a:pt x="0" y="9977247"/>
                  </a:lnTo>
                  <a:close/>
                </a:path>
              </a:pathLst>
            </a:custGeom>
            <a:solidFill>
              <a:srgbClr val="2D2D2D">
                <a:alpha val="3137"/>
              </a:srgbClr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571" r="2" b="-3157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1096185"/>
            <a:ext cx="8533805" cy="513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b="true" sz="3803" spc="-114">
                <a:solidFill>
                  <a:srgbClr val="171717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Directory Structure &amp; Artifact Delivery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1921697"/>
            <a:ext cx="3948609" cy="33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  <a:r>
              <a:rPr lang="en-US" sz="2151" spc="-51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Standardized Repository Layout: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5095" y="2564082"/>
            <a:ext cx="16471659" cy="5192201"/>
            <a:chOff x="0" y="0"/>
            <a:chExt cx="21962212" cy="69229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2238" cy="6922897"/>
            </a:xfrm>
            <a:custGeom>
              <a:avLst/>
              <a:gdLst/>
              <a:ahLst/>
              <a:cxnLst/>
              <a:rect r="r" b="b" t="t" l="l"/>
              <a:pathLst>
                <a:path h="6922897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6922897"/>
                  </a:lnTo>
                  <a:lnTo>
                    <a:pt x="0" y="6922897"/>
                  </a:lnTo>
                  <a:close/>
                </a:path>
              </a:pathLst>
            </a:custGeom>
            <a:solidFill>
              <a:srgbClr val="F1EFE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89587" y="2754754"/>
            <a:ext cx="15922657" cy="51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habot-staging-blueprint/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├── terraform/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│   ├── main.tf                    # GCS Landing &amp; BigQuery IaC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│   ├── variables.tf               # Terraform Input Variables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│   └── outputs.tf                 # Provisioned GCP Outputs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├── .github/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│   └── workflows/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│       └── poka-yoke-gate.yml      # Fail-Closed CI/CD Pipeline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├── backend/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│   ├── apps/onboarding/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│   │   ├── serializers.py         # DRF Serializer Rules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│   │   └── logic_dcyn.py          # DCYN Binary Logic Engine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│   └── requirements.txt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├── presentation/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│   ├── project_presentation.pptx                  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│   ├── onboarding_schema_mapping.xlsx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└── docs/</a:t>
            </a:r>
          </a:p>
          <a:p>
            <a:pPr algn="l">
              <a:lnSpc>
                <a:spcPts val="2305"/>
              </a:lnSpc>
            </a:pPr>
            <a:r>
              <a:rPr lang="en-US" sz="2001" spc="-6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└── schema_mapping.xlsx        # Fully Wrapped Data Mapping Matrix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5095" y="8440236"/>
            <a:ext cx="16471659" cy="47511"/>
            <a:chOff x="0" y="0"/>
            <a:chExt cx="21962212" cy="633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62111" cy="63247"/>
            </a:xfrm>
            <a:custGeom>
              <a:avLst/>
              <a:gdLst/>
              <a:ahLst/>
              <a:cxnLst/>
              <a:rect r="r" b="b" t="t" l="l"/>
              <a:pathLst>
                <a:path h="63247" w="21962111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1930488" y="0"/>
                  </a:lnTo>
                  <a:cubicBezTo>
                    <a:pt x="21948014" y="0"/>
                    <a:pt x="21962111" y="14224"/>
                    <a:pt x="21962111" y="31623"/>
                  </a:cubicBezTo>
                  <a:cubicBezTo>
                    <a:pt x="21962111" y="49149"/>
                    <a:pt x="21947887" y="63246"/>
                    <a:pt x="21930488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D2D2D">
                <a:alpha val="3137"/>
              </a:srgbClr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571" r="2" b="-3157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256484"/>
            <a:ext cx="13387388" cy="55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b="true" sz="4003" spc="-120">
                <a:solidFill>
                  <a:srgbClr val="171717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Operational Alignment: HabotConnect Values &amp; Principles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291725"/>
            <a:ext cx="8040767" cy="43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sz="3097" spc="-92">
                <a:solidFill>
                  <a:srgbClr val="171717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Alignment with HabotConnect Values: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995333"/>
            <a:ext cx="11468371" cy="228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3458" indent="-211729" lvl="1">
              <a:lnSpc>
                <a:spcPts val="3002"/>
              </a:lnSpc>
              <a:buFont typeface="Arial"/>
              <a:buChar char="•"/>
            </a:pPr>
            <a:r>
              <a:rPr lang="en-US" sz="2338" spc="-52">
                <a:solidFill>
                  <a:srgbClr val="2B0A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Openness &amp; Transparency:</a:t>
            </a:r>
            <a:r>
              <a:rPr lang="en-US" sz="2338" spc="-52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Automated build logs and explicit Terraform configurations remove operational ambiguity.</a:t>
            </a:r>
          </a:p>
          <a:p>
            <a:pPr algn="l" marL="423458" indent="-211729" lvl="1">
              <a:lnSpc>
                <a:spcPts val="3002"/>
              </a:lnSpc>
              <a:buFont typeface="Arial"/>
              <a:buChar char="•"/>
            </a:pPr>
            <a:r>
              <a:rPr lang="en-US" sz="2338" spc="-52">
                <a:solidFill>
                  <a:srgbClr val="2B0A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Accountability:</a:t>
            </a:r>
            <a:r>
              <a:rPr lang="en-US" sz="2338" spc="-52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Code-enforced quality gates ensure individual commits meet security standards.</a:t>
            </a:r>
          </a:p>
          <a:p>
            <a:pPr algn="l" marL="423458" indent="-211729" lvl="1">
              <a:lnSpc>
                <a:spcPts val="3002"/>
              </a:lnSpc>
              <a:buFont typeface="Arial"/>
              <a:buChar char="•"/>
            </a:pPr>
            <a:r>
              <a:rPr lang="en-US" sz="2338" spc="-52">
                <a:solidFill>
                  <a:srgbClr val="2B0A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Continuous Improvement:</a:t>
            </a:r>
            <a:r>
              <a:rPr lang="en-US" sz="2338" spc="-52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Constant refinement of Poka-Yoke checks based on incident learnings.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647507"/>
            <a:ext cx="7922172" cy="43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sz="3097" spc="-92">
                <a:solidFill>
                  <a:srgbClr val="171717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Alignment with Leadership Principles: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390039"/>
            <a:ext cx="8690766" cy="1908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3458" indent="-211729" lvl="1">
              <a:lnSpc>
                <a:spcPts val="3002"/>
              </a:lnSpc>
              <a:buFont typeface="Arial"/>
              <a:buChar char="•"/>
            </a:pPr>
            <a:r>
              <a:rPr lang="en-US" sz="2338" spc="-52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Quiet Management: Designing self-enforcing system constraints that eliminate the need for active micromanagement.</a:t>
            </a:r>
          </a:p>
          <a:p>
            <a:pPr algn="l" marL="423458" indent="-211729" lvl="1">
              <a:lnSpc>
                <a:spcPts val="3002"/>
              </a:lnSpc>
              <a:buFont typeface="Arial"/>
              <a:buChar char="•"/>
            </a:pPr>
            <a:r>
              <a:rPr lang="en-US" sz="2338" spc="-52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Absolute Structural Discipline: Enforcing rigid validation rules and clean data schemas.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571" r="2" b="-3157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1341073"/>
            <a:ext cx="11008916" cy="55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b="true" sz="4003" spc="-120">
                <a:solidFill>
                  <a:srgbClr val="171717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Verification, Cost Optimization &amp; Security Audit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2683586"/>
            <a:ext cx="16471659" cy="86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395" indent="-244697" lvl="1">
              <a:lnSpc>
                <a:spcPts val="3469"/>
              </a:lnSpc>
              <a:buFont typeface="Arial"/>
              <a:buChar char="•"/>
            </a:pPr>
            <a:r>
              <a:rPr lang="en-US" sz="2702" spc="-54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IaC Validation: Ran terraform validate and terraform plan to ensure 0 syntax errors or unmapped resources.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5095" y="4836062"/>
            <a:ext cx="4591447" cy="42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3002" spc="-90">
                <a:solidFill>
                  <a:srgbClr val="171717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Cost Minimization Strategy: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5095" y="5476551"/>
            <a:ext cx="16471659" cy="86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395" indent="-244697" lvl="1">
              <a:lnSpc>
                <a:spcPts val="3469"/>
              </a:lnSpc>
              <a:buFont typeface="Arial"/>
              <a:buChar char="•"/>
            </a:pPr>
            <a:r>
              <a:rPr lang="en-US" sz="2702" spc="-54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Automated GCS storage class transitions to minimize landing bucket costs.</a:t>
            </a:r>
          </a:p>
          <a:p>
            <a:pPr algn="l" marL="489395" indent="-244697" lvl="1">
              <a:lnSpc>
                <a:spcPts val="3469"/>
              </a:lnSpc>
              <a:buFont typeface="Arial"/>
              <a:buChar char="•"/>
            </a:pPr>
            <a:r>
              <a:rPr lang="en-US" sz="2702" spc="-54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Partitioned BigQuery staging tables to limit scanned bytes and lower query execution fees.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5095" y="7982988"/>
            <a:ext cx="16471659" cy="86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395" indent="-244697" lvl="1">
              <a:lnSpc>
                <a:spcPts val="3469"/>
              </a:lnSpc>
              <a:buFont typeface="Arial"/>
              <a:buChar char="•"/>
            </a:pPr>
            <a:r>
              <a:rPr lang="en-US" sz="2702" spc="-54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Security Audit Verification: Verified zero public IP exposures on backend services and mandatory KMS encryption.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5095" y="4031628"/>
            <a:ext cx="16471659" cy="19069"/>
            <a:chOff x="0" y="0"/>
            <a:chExt cx="21962212" cy="254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62238" cy="25400"/>
            </a:xfrm>
            <a:custGeom>
              <a:avLst/>
              <a:gdLst/>
              <a:ahLst/>
              <a:cxnLst/>
              <a:rect r="r" b="b" t="t" l="l"/>
              <a:pathLst>
                <a:path h="254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D2D2D">
                <a:alpha val="3137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5095" y="7226189"/>
            <a:ext cx="16471659" cy="19069"/>
            <a:chOff x="0" y="0"/>
            <a:chExt cx="21962212" cy="254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62238" cy="25400"/>
            </a:xfrm>
            <a:custGeom>
              <a:avLst/>
              <a:gdLst/>
              <a:ahLst/>
              <a:cxnLst/>
              <a:rect r="r" b="b" t="t" l="l"/>
              <a:pathLst>
                <a:path h="254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D2D2D">
                <a:alpha val="3137"/>
              </a:srgbClr>
            </a:solid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571" r="2" b="-3157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962739"/>
            <a:ext cx="8010129" cy="55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b="true" sz="4003" spc="-120">
                <a:solidFill>
                  <a:srgbClr val="171717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Deliverable Links &amp; Final Summary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2213790"/>
            <a:ext cx="5374936" cy="395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801" spc="-84">
                <a:solidFill>
                  <a:srgbClr val="171717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Project Deliverable Links: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5095" y="2901494"/>
            <a:ext cx="12193107" cy="102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1172" indent="-195586" lvl="1">
              <a:lnSpc>
                <a:spcPts val="2773"/>
              </a:lnSpc>
              <a:buFont typeface="Arial"/>
              <a:buChar char="•"/>
            </a:pPr>
            <a:r>
              <a:rPr lang="en-US" sz="2159" spc="-48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Source Code Repository: </a:t>
            </a:r>
            <a:r>
              <a:rPr lang="en-US" sz="2159" spc="-48" u="sng">
                <a:solidFill>
                  <a:srgbClr val="2B0AFF"/>
                </a:solidFill>
                <a:latin typeface="Libre Franklin"/>
                <a:ea typeface="Libre Franklin"/>
                <a:cs typeface="Libre Franklin"/>
                <a:sym typeface="Libre Franklin"/>
                <a:hlinkClick r:id="rId4" tooltip="https://github.com/sumithpittala/habot-hiring-project"/>
              </a:rPr>
              <a:t>sumithpittala/habot-hiring-project</a:t>
            </a:r>
          </a:p>
          <a:p>
            <a:pPr algn="l" marL="391172" indent="-195586" lvl="1">
              <a:lnSpc>
                <a:spcPts val="2773"/>
              </a:lnSpc>
              <a:buFont typeface="Arial"/>
              <a:buChar char="•"/>
            </a:pPr>
            <a:r>
              <a:rPr lang="en-US" sz="2159" spc="-48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Schema Mapping Sheet: </a:t>
            </a:r>
            <a:r>
              <a:rPr lang="en-US" sz="2159" spc="-48" u="sng">
                <a:solidFill>
                  <a:srgbClr val="2B0AFF"/>
                </a:solidFill>
                <a:latin typeface="Libre Franklin"/>
                <a:ea typeface="Libre Franklin"/>
                <a:cs typeface="Libre Franklin"/>
                <a:sym typeface="Libre Franklin"/>
                <a:hlinkClick r:id="rId5" tooltip="https://docs.google.com/spreadsheets/d/1HVoi-SH_Szr0OkBRl1BKaLem70jqD5dz8jdEpFAQSOM/edit?usp=sharing"/>
              </a:rPr>
              <a:t>https://docs.google.com/spreadsheets/d/1HVoi-SH_Szr0OkBRl1BKaLem70jqD5dz8jdEpFAQSOM/edit?usp=sharing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5095" y="4489213"/>
            <a:ext cx="6710623" cy="395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801" spc="-84">
                <a:solidFill>
                  <a:srgbClr val="171717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Candidate Contact Information: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5095" y="5176917"/>
            <a:ext cx="8775788" cy="102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1172" indent="-195586" lvl="1">
              <a:lnSpc>
                <a:spcPts val="2773"/>
              </a:lnSpc>
              <a:buFont typeface="Arial"/>
              <a:buChar char="•"/>
            </a:pPr>
            <a:r>
              <a:rPr lang="en-US" sz="2159" spc="-48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Name: Pittala Sumith</a:t>
            </a:r>
          </a:p>
          <a:p>
            <a:pPr algn="l" marL="391172" indent="-195586" lvl="1">
              <a:lnSpc>
                <a:spcPts val="2773"/>
              </a:lnSpc>
              <a:buFont typeface="Arial"/>
              <a:buChar char="•"/>
            </a:pPr>
            <a:r>
              <a:rPr lang="en-US" sz="2159" spc="-48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Email: </a:t>
            </a:r>
            <a:r>
              <a:rPr lang="en-US" sz="2159" spc="-48" u="sng">
                <a:solidFill>
                  <a:srgbClr val="2B0AFF"/>
                </a:solidFill>
                <a:latin typeface="Libre Franklin"/>
                <a:ea typeface="Libre Franklin"/>
                <a:cs typeface="Libre Franklin"/>
                <a:sym typeface="Libre Franklin"/>
                <a:hlinkClick r:id="rId6" tooltip="mailto:sumithpittala@gmail.com"/>
              </a:rPr>
              <a:t>sumithpittala@gmail.com</a:t>
            </a:r>
          </a:p>
          <a:p>
            <a:pPr algn="l" marL="391172" indent="-195586" lvl="1">
              <a:lnSpc>
                <a:spcPts val="2773"/>
              </a:lnSpc>
              <a:buFont typeface="Arial"/>
              <a:buChar char="•"/>
            </a:pPr>
            <a:r>
              <a:rPr lang="en-US" sz="2159" spc="-48">
                <a:solidFill>
                  <a:srgbClr val="2D2D2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Phone: +91 8790553948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5095" y="8515302"/>
            <a:ext cx="16471659" cy="47511"/>
            <a:chOff x="0" y="0"/>
            <a:chExt cx="21962212" cy="633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62111" cy="63247"/>
            </a:xfrm>
            <a:custGeom>
              <a:avLst/>
              <a:gdLst/>
              <a:ahLst/>
              <a:cxnLst/>
              <a:rect r="r" b="b" t="t" l="l"/>
              <a:pathLst>
                <a:path h="63247" w="21962111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1930488" y="0"/>
                  </a:lnTo>
                  <a:cubicBezTo>
                    <a:pt x="21948014" y="0"/>
                    <a:pt x="21962111" y="14224"/>
                    <a:pt x="21962111" y="31623"/>
                  </a:cubicBezTo>
                  <a:cubicBezTo>
                    <a:pt x="21962111" y="49149"/>
                    <a:pt x="21947887" y="63246"/>
                    <a:pt x="21930488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D2D2D">
                <a:alpha val="3137"/>
              </a:srgbClr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DAHVFkBbcxM</dc:identifier>
  <dcterms:modified xsi:type="dcterms:W3CDTF">2011-08-01T06:04:30Z</dcterms:modified>
  <cp:revision>1</cp:revision>
  <dc:title>project_presentation.pptx</dc:title>
</cp:coreProperties>
</file>